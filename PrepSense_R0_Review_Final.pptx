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6" r:id="rId17"/>
    <p:sldId id="267" r:id="rId18"/>
    <p:sldId id="260" r:id="rId11"/>
    <p:sldId id="261" r:id="rId12"/>
    <p:sldId id="262" r:id="rId13"/>
    <p:sldId id="268" r:id="rId19"/>
    <p:sldId id="263" r:id="rId14"/>
    <p:sldId id="264" r:id="rId15"/>
    <p:sldId id="265" r:id="rId1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E68B7F-7262-455B-9349-77A0A16FA5AA}">
  <a:tblStyle styleId="{53E68B7F-7262-455B-9349-77A0A16FA5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fill>
          <a:solidFill>
            <a:srgbClr val="F5D8CA"/>
          </a:solidFill>
        </a:fill>
      </a:tcStyle>
    </a:band1H>
    <a:band2H>
      <a:tcTxStyle/>
    </a:band2H>
    <a:band1V>
      <a:tcTxStyle/>
      <a:tcStyle>
        <a:fill>
          <a:solidFill>
            <a:srgbClr val="F5D8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ctr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sz="12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650077" y="6683430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b="0" sz="12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1645920" y="6679692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1645919" y="2768601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9326880" y="2768603"/>
            <a:ext cx="740664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64592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164592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932688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932688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685800" y="891538"/>
            <a:ext cx="480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7200900" y="1097280"/>
            <a:ext cx="973836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685800" y="4389120"/>
            <a:ext cx="4800600" cy="5068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698268" y="9689678"/>
            <a:ext cx="3927765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7200900" y="9689678"/>
            <a:ext cx="6972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Calibri"/>
              <a:buNone/>
              <a:defRPr sz="15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1645920" y="7612380"/>
            <a:ext cx="151698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>
            <p:ph idx="2" type="pic"/>
          </p:nvPr>
        </p:nvPicPr>
        <p:blipFill/>
        <p:spPr>
          <a:xfrm>
            <a:off x="23" y="0"/>
            <a:ext cx="18287978" cy="737261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1645920" y="8860535"/>
            <a:ext cx="15169896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6172200" y="-1757679"/>
            <a:ext cx="6035040" cy="15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10740959" y="2968559"/>
            <a:ext cx="8636132" cy="3943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2739959" y="-860492"/>
            <a:ext cx="8636133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 b="0" i="0" sz="7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Char char=" "/>
              <a:defRPr b="0" i="0" sz="3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◦"/>
              <a:defRPr b="0" i="0" sz="2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5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None/>
              <a:defRPr b="0" sz="15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790298" y="2606768"/>
            <a:ext cx="14950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459134" y="1693768"/>
            <a:ext cx="17415164" cy="4372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065" marR="508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065" marR="5080" rtl="0" algn="ctr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DEPARTMENT OF ARTIFICIAL INTELLIGENCE &amp; MACHINE LEARNING</a:t>
            </a:r>
            <a:endParaRPr/>
          </a:p>
          <a:p>
            <a:pPr indent="0" lvl="0" marL="12065" marR="5080" rtl="0" algn="ctr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SCHOOL OF COMPUTING  </a:t>
            </a:r>
            <a:endParaRPr/>
          </a:p>
          <a:p>
            <a:pPr indent="0" lvl="0" marL="12065" marR="5080" rtl="0" algn="ctr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10214AM701 MAJOR PROJECT </a:t>
            </a:r>
            <a:endParaRPr/>
          </a:p>
          <a:p>
            <a:pPr indent="0" lvl="0" marL="12065" marR="5080" rtl="0" algn="ctr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(In-house)</a:t>
            </a:r>
            <a:endParaRPr/>
          </a:p>
          <a:p>
            <a:pPr indent="0" lvl="0" marL="12065" marR="5080" rtl="0" algn="ctr">
              <a:lnSpc>
                <a:spcPct val="15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REVIEW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819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819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</a:t>
            </a:r>
            <a:endParaRPr/>
          </a:p>
          <a:p>
            <a:pPr indent="0" lvl="0" marL="75819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</a:t>
            </a:r>
            <a:r>
              <a:rPr b="1" lang="en-I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 </a:t>
            </a:r>
            <a:r>
              <a:rPr b="1" lang="en-I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PrepSense: An AI-Powered Adaptive Interview Intelligence Platform”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5740698" y="27597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311727" y="7704404"/>
            <a:ext cx="9144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1.ASHWIN KUMAR N ( VTU26113 ) ( 23UEAM0004 )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2.SABREEN ANJUM B ( VTU24729 )( 23UEAM0052 )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51841" y="7003473"/>
            <a:ext cx="434485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2258371" y="6583970"/>
            <a:ext cx="31685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1884301" y="7199210"/>
            <a:ext cx="58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S. Alex David 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8" name="Google Shape;108;p13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</a:t>
            </a:r>
            <a:r>
              <a:rPr lang="en-IN">
                <a:solidFill>
                  <a:schemeClr val="lt1"/>
                </a:solidFill>
              </a:rPr>
              <a:t>-</a:t>
            </a:r>
            <a:r>
              <a:rPr lang="en-IN">
                <a:solidFill>
                  <a:schemeClr val="lt1"/>
                </a:solidFill>
              </a:rPr>
              <a:t>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8628" y="275977"/>
            <a:ext cx="3910744" cy="1927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645921" y="1039450"/>
            <a:ext cx="154327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 JUSTIFICATION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645921" y="2315497"/>
            <a:ext cx="15432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title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“PrepSense: An AI-Powered Adaptive Interview Intelligence Platform”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accurately represents the main purpose and capabilities of the proposed system.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PrepSense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represents the platform’s goal of helping students, freshers, and job seekers prepare effectively for interviews.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highlights the use of Artificial Intelligence and technologies such as Large Language Models, Speech-to-Text, Text-to-Speech, and computer vision.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indicates that the interview is not static. The system analyzes the candidate’s previous responses and performance and dynamically adjusts the difficulty and type of subsequent questions.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Interview Intelligence Platform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reflects that the system goes beyond conducting mock interviews by analyzing technical knowledge, communication, speaking pace, confidence, facial expressions, and overall performance, followed by a detailed personalized report.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1" type="ftr"/>
          </p:nvPr>
        </p:nvSpPr>
        <p:spPr>
          <a:xfrm>
            <a:off x="3051166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4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445342" y="980456"/>
            <a:ext cx="159505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&amp; SCOPE OF THE PROJECT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645921" y="2315497"/>
            <a:ext cx="15432600" cy="4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an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adaptive interview platform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simulates real-world interviews.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analyze candidates’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knowledge and communication skills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provide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performance reports and recommendations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improvement.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Interview Flow: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system continuously analyzes candidate performance and adjusts the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question and difficulty level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accordingly.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AI-Based Conversational Interaction: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platform supports natural interview interaction using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Speech-to-Text and Text-to-Speech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a more realistic interview experience.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 Interview Memory: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system maintains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history and candidate context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make subsequent questions more relevant and personalized.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445342" y="980456"/>
            <a:ext cx="159505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16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463040" y="1755648"/>
            <a:ext cx="1536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05A0E"/>
                </a:solidFill>
                <a:latin typeface="Calibri"/>
              </a:rPr>
              <a:t>Key research papers reviewed — Papers 1 to 8 of 15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1463040" y="2157984"/>
          <a:ext cx="15361920" cy="6848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651760"/>
                <a:gridCol w="4114800"/>
                <a:gridCol w="4023360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Research Article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Authors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Methods and Findings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Remarks and Challenges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1. A Multimodal AI Framework for Real-Time Emotion and Confidence Conflict Detection in Mock Interviews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Rai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IEEE Affective Computing, 2025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Fuses facial, vocal and text cues in real time; flags mismatch between what a candidate says and the confidence actually shown.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Compute-heavy; sensitive to lighting and mic quality. Gives feedback only — no adaptive questioning.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2. Revolutionizing Interview Preparation: An AI-Driven Mock Interview System for Skill Assessment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Thawali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IJRASET, 2024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End-to-end mock interview pipeline — resume parsing, question bank, NLP answer scoring and report generation.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Fixed question bank; difficulty never adapts to the candidate. No voice or facial analysis.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3. A Review on AI-Interview Simulator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Kaur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IJRPR, 2025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Survey of interview simulators; proposes reinforcement-learning based question sequencing to control difficulty.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Largely conceptual; RL needs large interaction datasets and is unstable under sparse rewards.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4. A Context-Aware Generative AI Framework for Automated Mock Interview Assessment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Zhang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IEEE Trans. Affective Comput., 2025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Context-aware LLM generates follow-up questions and grades answers to a rubric; context beats one-shot prompting.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Hallucination and inconsistent scoring; long interviews overflow the model context window.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5. BERT-Based Semantic Answer Evaluation for Technical Interviews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Singh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Intl. Journal of AI Research, 2024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BERT embeddings with cosine similarity score answers semantically rather than by keyword matching.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Needs a reference answer per question; penalises correct but unconventional responses.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6. LLM-Based Conversational Agents for Professional Training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Ouyang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NeurIPS, 2023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Instruction-tuned, RLHF-aligned LLMs sustain coherent multi-turn professional role-play dialogue.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High latency and inference cost; interviewer persona drifts over long sessions.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7. Interview Bot Development with NLP and Machine Learning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Pasaribu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IEEE ICDAT, 2024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Speech input → NLP preprocessing → intent/answer classification → scored reply; a working bot is demonstrated.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Classifier-driven, so question variety is limited; accuracy drops on accented or noisy audio.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79667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8. Automatic Interview Scoring Using Deep Neural Networks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Li &amp; Prakash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Semantic Scholar, 2023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DNN predicts fluency, clarity and overall rating from recorded interviews; correlates well with human raters.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Black-box score with no actionable feedback; dataset bias affects fairness across accents.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445342" y="980456"/>
            <a:ext cx="159505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16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463040" y="1755648"/>
            <a:ext cx="1536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05A0E"/>
                </a:solidFill>
                <a:latin typeface="Calibri"/>
              </a:rPr>
              <a:t>Key research papers reviewed — Papers 9 to 15 of 15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1463040" y="2157984"/>
          <a:ext cx="15361920" cy="6848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651760"/>
                <a:gridCol w="4114800"/>
                <a:gridCol w="4023360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Research Article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Authors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Methods and Findings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Remarks and Challenges</a:t>
                      </a:r>
                    </a:p>
                  </a:txBody>
                  <a:tcPr marL="64008" marR="64008" marT="36576" marB="36576" anchor="ctr">
                    <a:solidFill>
                      <a:srgbClr val="E68212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9. Real-Time Speech Recognition for Interview Transcription Using Transformer ASR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Kumar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JAAFR, 2025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Whisper-family transformer ASR gives low-latency transcription with low WER on conversational speech.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Needs a GPU for true real time; degrades with background noise, cross-talk and technical jargon.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10. Stressed Speech Emotion Recognition Using Teager Energy and Spectral Feature Fusion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Bandela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Hindawi, 2023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Fuses Teager-energy operator features with MFCC/spectral features to detect stress; fusion beats single feature sets.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Trained on acted stress corpora; generalisation to spontaneous interview speech is unproven.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11. Speech Emotion Recognition: A Systematic Review (2014–2023)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Khare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Information Fusion, Elsevier, 2024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Systematic review of SER features, datasets and models; multimodal fusion consistently outperforms audio-only.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Datasets are small, acted and language-biased; cross-corpus accuracy drops sharply.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12. Deep Learning-Based Real-Time Sequential Facial Expression Analysis Using Geometric Features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Köksal &amp; Gumus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arXiv / IEEE, 2024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Uses sequential geometric landmark features (distances, angles) instead of raw pixels — lightweight and real time.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Sensitive to head pose, occlusion (spectacles, hands) and poor webcam lighting.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13. A Comprehensive Survey and Evaluation of MediaPipe Face Mesh for Human Emotion Recognition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IEEE Survey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IEEE Conf. Publication, 2024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Benchmarks MediaPipe FaceMesh (468 landmarks) for emotion recognition at video frame rate on CPU alone.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Landmark accuracy falls at extreme angles; subtle expressions such as mild nervousness stay hard to classify.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14. Facial Expression Recognition for Real-Time Student Progress Tracking via Deep Learning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Aly M.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Multimedia Tools &amp; Appl., Springer, 2024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CNN-based FER tracks learner engagement in real time and links facial expression to measured performance.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Raises privacy and consent concerns; expression is only an indirect proxy for engagement.</a:t>
                      </a:r>
                    </a:p>
                  </a:txBody>
                  <a:tcPr marL="64008" marR="64008" marT="36576" marB="36576" anchor="ctr">
                    <a:solidFill>
                      <a:srgbClr val="FBEEE6"/>
                    </a:solidFill>
                  </a:tcPr>
                </a:tc>
              </a:tr>
              <a:tr h="910481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B05A0E"/>
                          </a:solidFill>
                          <a:latin typeface="Calibri"/>
                        </a:rPr>
                        <a:t>15. Adaptive-RAG: Learning to Adapt Retrieval-Augmented LLMs through Question Complexity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Jeong et al.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555B63"/>
                          </a:solidFill>
                          <a:latin typeface="Calibri"/>
                        </a:rPr>
                        <a:t>NAACL, 2024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 classifier routes each query to no-retrieval, single-step or multi-step RAG by complexity, balancing accuracy and cost.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Requires labelled complexity data; misrouting either wastes compute or loses accuracy.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445342" y="980456"/>
            <a:ext cx="159505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FINDINGS &amp; GAPS IDENTIFIED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16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46304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B05A0E"/>
                </a:solidFill>
                <a:latin typeface="Times New Roman"/>
              </a:rPr>
              <a:t>Summary of Findings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63040" y="2487168"/>
            <a:ext cx="7223760" cy="6035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LLMs can conduct coherent, context-aware interview dialogue and grade answers against a rubric.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Semantic scoring with transformer embeddings evaluates answers far better than keyword matching.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Transformer ASR such as Whisper makes real-time, low-error interview transcription practical.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Voice stress and prosody features are reliable indicators of candidate confidence.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MediaPipe and DeepFace enable CPU-capable, real-time facial engagement analysis from an ordinary webcam.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Multimodal fusion of text, voice and face consistently outperforms any single modality.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Complexity-aware routing balances answer quality against compute cost.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235440" y="1874519"/>
            <a:ext cx="7589520" cy="5989320"/>
          </a:xfrm>
          <a:prstGeom prst="roundRect">
            <a:avLst>
              <a:gd name="adj" fmla="val 3000"/>
            </a:avLst>
          </a:prstGeom>
          <a:solidFill>
            <a:srgbClr val="FBEEE6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9601200" y="2084831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B05A0E"/>
                </a:solidFill>
                <a:latin typeface="Times New Roman"/>
              </a:rPr>
              <a:t>Gaps Identified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601200" y="2670048"/>
            <a:ext cx="68580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Question difficulty is drawn from fixed banks — it does not adapt to the candidate's live performance.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Most systems analyse a single modality; text, voice and face are rarely fused into one interview score.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No conversational memory — follow-up questions ignore earlier answers and the candidate's resume.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Output is usually a single opaque score, not actionable, personalised improvement guidance.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550">
                <a:solidFill>
                  <a:srgbClr val="1A1A1A"/>
                </a:solidFill>
                <a:latin typeface="Calibri"/>
              </a:rPr>
              <a:t>•  Complexity-aware retrieval has not yet been applied to interview question generation.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463040" y="8092440"/>
            <a:ext cx="15361920" cy="914400"/>
          </a:xfrm>
          <a:prstGeom prst="roundRect">
            <a:avLst>
              <a:gd name="adj" fmla="val 3000"/>
            </a:avLst>
          </a:prstGeom>
          <a:solidFill>
            <a:srgbClr val="E68212"/>
          </a:solidFill>
          <a:ln w="9525">
            <a:solidFill>
              <a:srgbClr val="E68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PrepSense addresses all five gaps: </a:t>
            </a:r>
            <a:r>
              <a:rPr sz="1600">
                <a:solidFill>
                  <a:srgbClr val="FFFFFF"/>
                </a:solidFill>
                <a:latin typeface="Calibri"/>
              </a:rPr>
              <a:t>an adaptive multi-agent interviewer that fuses text, voice and facial analysis, remembers the whole conversation, and returns a personalised improvement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97858" y="1275424"/>
            <a:ext cx="120166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TO BE USED IN THE PROJECT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7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6" name="Google Shape;146;p17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772075" y="2490150"/>
            <a:ext cx="6697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Next.js, React, TypeScript, Tailwind CSS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FastAPI (Python), PostgreSQL, Prisma 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AI/LLM: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Qwen3 8B, Gemini API, LangChain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 Processing: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Faster-Whisper, Kokoro TTS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Vision: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MediaPipe, DeepFace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&amp; Memory: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FAISS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Docker, Vercel, GPU Server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312606" y="995204"/>
            <a:ext cx="137415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SOCIETAL IMPORTANCE OF THE PROJECT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8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18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864193" y="2080783"/>
            <a:ext cx="14293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Employability: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Helps students, freshers, and job seekers improve their interview skills and become better prepared for employment opportunities.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Accessible Interview Practice: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Offers a personalized AI-based interview experience that can help candidates practice without depending entirely on human interviewers.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Promotes Continuous Skill Improvement: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Identifies candidates’ strengths and weaknesses and provides personalized recommendations to improve their technical and communication skills.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27884" y="826762"/>
            <a:ext cx="13741540" cy="72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/ METHODOLOGY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9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19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85800" y="1627632"/>
            <a:ext cx="1691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55B63"/>
                </a:solidFill>
                <a:latin typeface="Calibri"/>
              </a:rPr>
              <a:t>A multi-agent AI pipeline in which eight specialised agents run one adaptive interview loop.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85800" y="214884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BEEE6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886968" y="2350008"/>
            <a:ext cx="566928" cy="56692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81912" y="242316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Resume &amp; Role Intake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05256" y="308152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Resume Agent extracts skills, projects and experience from the uploaded CV; the candidate selects a target job role.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965192" y="214884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BEEE6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5166360" y="2350008"/>
            <a:ext cx="566928" cy="56692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861304" y="242316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Interview Planning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184648" y="308152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Planner Agent builds the interview strategy — topic coverage and the starting difficulty level.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244584" y="214884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BEEE6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9445752" y="2350008"/>
            <a:ext cx="566928" cy="56692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140696" y="242316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Question Generation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464040" y="308152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Interviewer Agent (Qwen3 8B / Gemini) generates a role-specific question; Kokoro TTS speaks it aloud.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3523976" y="214884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BEEE6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13725144" y="2350008"/>
            <a:ext cx="566928" cy="56692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4420088" y="242316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Answer Capture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3743432" y="308152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Candidate replies through microphone and webcam; Faster-Whisper converts speech to text in real time.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85800" y="530352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5D8CA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886968" y="5504688"/>
            <a:ext cx="566928" cy="56692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581912" y="557784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Multimodal Analysis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05256" y="623620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Voice Agent measures pace, fillers and confidence; Emotion Agent reads eye contact and facial expression.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965192" y="530352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5D8CA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5166360" y="5504688"/>
            <a:ext cx="566928" cy="56692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861304" y="557784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Evaluation &amp; Memory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184648" y="623620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Evaluator Agent scores technical depth and communication; Memory Agent stores context in FAISS.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9244584" y="530352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5D8CA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9445752" y="5504688"/>
            <a:ext cx="566928" cy="56692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140696" y="557784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Adaptive Loop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64040" y="623620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Planner Agent uses that score to set the next question's topic and difficulty — steps 3 to 6 then repeat.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3523976" y="5303520"/>
            <a:ext cx="3950208" cy="2697480"/>
          </a:xfrm>
          <a:prstGeom prst="roundRect">
            <a:avLst>
              <a:gd name="adj" fmla="val 3000"/>
            </a:avLst>
          </a:prstGeom>
          <a:solidFill>
            <a:srgbClr val="F5D8CA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13725144" y="5504688"/>
            <a:ext cx="566928" cy="56692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4420088" y="557784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B05A0E"/>
                </a:solidFill>
                <a:latin typeface="Calibri"/>
              </a:rPr>
              <a:t>Report Generation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3743432" y="6236208"/>
            <a:ext cx="3511296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Report Agent compiles strengths, weaknesses, analytics and personalised recommendations.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85800" y="8458200"/>
            <a:ext cx="1691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05A0E"/>
                </a:solidFill>
                <a:latin typeface="Calibri"/>
              </a:rPr>
              <a:t>↺   Steps 3 to 6 repeat for every question — each answer changes the one that follows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27884" y="826762"/>
            <a:ext cx="13741540" cy="721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 OF THE CHOSEN SOLUTION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9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19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685800" y="2057400"/>
            <a:ext cx="8211312" cy="187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960120" y="2660904"/>
            <a:ext cx="658368" cy="65836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783080" y="2295144"/>
            <a:ext cx="6839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05A0E"/>
                </a:solidFill>
                <a:latin typeface="Calibri"/>
              </a:rPr>
              <a:t>Multi-agent design, not one giant prompt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783080" y="2788920"/>
            <a:ext cx="68397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Each agent is independently testable, replaceable and debuggable — far more reliable than a single monolithic LLM call.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390888" y="2057400"/>
            <a:ext cx="8211312" cy="187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9665208" y="2660904"/>
            <a:ext cx="658368" cy="65836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488167" y="2295144"/>
            <a:ext cx="6839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05A0E"/>
                </a:solidFill>
                <a:latin typeface="Calibri"/>
              </a:rPr>
              <a:t>Qwen3 8B locally, Gemini in the cloud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488167" y="2788920"/>
            <a:ext cx="68397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Local Ollama inference means zero API cost and full data privacy while developing; Gemini provides scale at deployment.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85800" y="4242816"/>
            <a:ext cx="8211312" cy="187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960120" y="4846320"/>
            <a:ext cx="658368" cy="65836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783080" y="4480559"/>
            <a:ext cx="6839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05A0E"/>
                </a:solidFill>
                <a:latin typeface="Calibri"/>
              </a:rPr>
              <a:t>Faster-Whisper for speech-to-text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783080" y="4974336"/>
            <a:ext cx="68397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Roughly 4× faster than baseline Whisper at comparable accuracy — the only way to keep the interview conversational.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390888" y="4242816"/>
            <a:ext cx="8211312" cy="187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9665208" y="4846320"/>
            <a:ext cx="658368" cy="65836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488167" y="4480559"/>
            <a:ext cx="6839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05A0E"/>
                </a:solidFill>
                <a:latin typeface="Calibri"/>
              </a:rPr>
              <a:t>MediaPipe and DeepFace for vision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488167" y="4974336"/>
            <a:ext cx="68397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Both run on CPU with an ordinary webcam, so the candidate needs no specialised hardware.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85800" y="6428231"/>
            <a:ext cx="8211312" cy="187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960120" y="7031736"/>
            <a:ext cx="658368" cy="658368"/>
          </a:xfrm>
          <a:prstGeom prst="ellipse">
            <a:avLst/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83080" y="6665975"/>
            <a:ext cx="6839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05A0E"/>
                </a:solidFill>
                <a:latin typeface="Calibri"/>
              </a:rPr>
              <a:t>LangChain and FAISS for memory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783080" y="7159751"/>
            <a:ext cx="68397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Gives the interviewer genuine conversational memory, so follow-up questions build on earlier answers — closing gap 3.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9390888" y="6428231"/>
            <a:ext cx="8211312" cy="18745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9665208" y="7031736"/>
            <a:ext cx="658368" cy="658368"/>
          </a:xfrm>
          <a:prstGeom prst="ellipse">
            <a:avLst/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488167" y="6665975"/>
            <a:ext cx="6839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05A0E"/>
                </a:solidFill>
                <a:latin typeface="Calibri"/>
              </a:rPr>
              <a:t>Complexity-aware adaptive logic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488167" y="7159751"/>
            <a:ext cx="68397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Adaptive-RAG style routing sets question difficulty from live performance — closing gaps 1 and 5.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85800" y="8549640"/>
            <a:ext cx="1691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05A0E"/>
                </a:solidFill>
                <a:latin typeface="Calibri"/>
              </a:rPr>
              <a:t>Outcome: a realistic, adaptive interview with measurable, explainable feedback — not a static question bank.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886618" y="650435"/>
            <a:ext cx="128293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  OF THE PROJECT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763212" y="1599966"/>
            <a:ext cx="15172800" cy="7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Tangible Results: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 of a </a:t>
            </a: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AI-powered adaptive interview platform</a:t>
            </a: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Generation of </a:t>
            </a: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interview questions and performance reports</a:t>
            </a: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based on candidate responses.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of </a:t>
            </a: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technical, communication, voice, and facial analysis</a:t>
            </a: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comprehensive interview evaluation.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/ Benefits: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students, freshers, and job seekers </a:t>
            </a: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interview preparedness and employability</a:t>
            </a: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personalized feedback</a:t>
            </a: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identifying strengths, weaknesses, and areas for improvement.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</a:t>
            </a: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realistic and adaptive interview experience</a:t>
            </a:r>
            <a:r>
              <a:rPr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bridges the gap between conventional mock interviews and real-world recruitment.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20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563955" y="698561"/>
            <a:ext cx="66353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OF THE PROJECT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14400" y="1783080"/>
            <a:ext cx="5577840" cy="502920"/>
          </a:xfrm>
          <a:prstGeom prst="rect">
            <a:avLst/>
          </a:prstGeom>
          <a:solidFill>
            <a:srgbClr val="E682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492240" y="1783080"/>
            <a:ext cx="2084832" cy="502920"/>
          </a:xfrm>
          <a:prstGeom prst="rect">
            <a:avLst/>
          </a:prstGeom>
          <a:solidFill>
            <a:srgbClr val="E682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AUG 2026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577072" y="1783080"/>
            <a:ext cx="2084832" cy="502920"/>
          </a:xfrm>
          <a:prstGeom prst="rect">
            <a:avLst/>
          </a:prstGeom>
          <a:solidFill>
            <a:srgbClr val="E682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SEP 2026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61904" y="1783080"/>
            <a:ext cx="2084832" cy="502920"/>
          </a:xfrm>
          <a:prstGeom prst="rect">
            <a:avLst/>
          </a:prstGeom>
          <a:solidFill>
            <a:srgbClr val="E682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OCT 2026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2746736" y="1783080"/>
            <a:ext cx="2084832" cy="502920"/>
          </a:xfrm>
          <a:prstGeom prst="rect">
            <a:avLst/>
          </a:prstGeom>
          <a:solidFill>
            <a:srgbClr val="E682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NOV 2026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831567" y="1783080"/>
            <a:ext cx="2084832" cy="502920"/>
          </a:xfrm>
          <a:prstGeom prst="rect">
            <a:avLst/>
          </a:prstGeom>
          <a:solidFill>
            <a:srgbClr val="E682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 2026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14400" y="2286000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Literature Survey &amp; Requirement Analysis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492240" y="2286000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8577072" y="2286000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10661904" y="2286000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12746736" y="2286000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14831567" y="2286000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ounded Rectangle 197"/>
          <p:cNvSpPr/>
          <p:nvPr/>
        </p:nvSpPr>
        <p:spPr>
          <a:xfrm>
            <a:off x="6492240" y="2404872"/>
            <a:ext cx="1667865" cy="338328"/>
          </a:xfrm>
          <a:prstGeom prst="roundRect">
            <a:avLst>
              <a:gd name="adj" fmla="val 50000"/>
            </a:avLst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14400" y="2862072"/>
            <a:ext cx="5577840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System Design &amp; Architecture Finalisation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492240" y="2862072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8577072" y="2862072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661904" y="2862072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2746736" y="2862072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4831567" y="2862072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ounded Rectangle 204"/>
          <p:cNvSpPr/>
          <p:nvPr/>
        </p:nvSpPr>
        <p:spPr>
          <a:xfrm>
            <a:off x="7638897" y="2980944"/>
            <a:ext cx="1980590" cy="338328"/>
          </a:xfrm>
          <a:prstGeom prst="roundRect">
            <a:avLst>
              <a:gd name="adj" fmla="val 50000"/>
            </a:avLst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914400" y="3438144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Frontend, Backend &amp; Database Setup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492240" y="3438144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8577072" y="3438144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661904" y="3438144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2746736" y="3438144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4831567" y="3438144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ounded Rectangle 211"/>
          <p:cNvSpPr/>
          <p:nvPr/>
        </p:nvSpPr>
        <p:spPr>
          <a:xfrm>
            <a:off x="8994038" y="3557015"/>
            <a:ext cx="2084832" cy="338328"/>
          </a:xfrm>
          <a:prstGeom prst="roundRect">
            <a:avLst>
              <a:gd name="adj" fmla="val 50000"/>
            </a:avLst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914400" y="4014216"/>
            <a:ext cx="5577840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LLM Agents — Planner, Interviewer, Resume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492240" y="4014216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8577072" y="4014216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10661904" y="4014216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12746736" y="4014216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14831567" y="4014216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ounded Rectangle 218"/>
          <p:cNvSpPr/>
          <p:nvPr/>
        </p:nvSpPr>
        <p:spPr>
          <a:xfrm>
            <a:off x="10244937" y="4133088"/>
            <a:ext cx="2918764" cy="338328"/>
          </a:xfrm>
          <a:prstGeom prst="roundRect">
            <a:avLst>
              <a:gd name="adj" fmla="val 50000"/>
            </a:avLst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914400" y="4590288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Speech Module — Faster-Whisper &amp; Kokoro TTS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6492240" y="4590288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8577072" y="4590288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10661904" y="4590288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12746736" y="4590288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14831567" y="4590288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ounded Rectangle 225"/>
          <p:cNvSpPr/>
          <p:nvPr/>
        </p:nvSpPr>
        <p:spPr>
          <a:xfrm>
            <a:off x="11287353" y="4709159"/>
            <a:ext cx="2293315" cy="338328"/>
          </a:xfrm>
          <a:prstGeom prst="roundRect">
            <a:avLst>
              <a:gd name="adj" fmla="val 50000"/>
            </a:avLst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914400" y="5166360"/>
            <a:ext cx="5577840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Vision Module — MediaPipe &amp; DeepFace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492240" y="5166360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Rectangle 228"/>
          <p:cNvSpPr/>
          <p:nvPr/>
        </p:nvSpPr>
        <p:spPr>
          <a:xfrm>
            <a:off x="8577072" y="5166360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10661904" y="5166360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12746736" y="5166360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14831567" y="5166360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ounded Rectangle 232"/>
          <p:cNvSpPr/>
          <p:nvPr/>
        </p:nvSpPr>
        <p:spPr>
          <a:xfrm>
            <a:off x="12329769" y="5285232"/>
            <a:ext cx="2293315" cy="338328"/>
          </a:xfrm>
          <a:prstGeom prst="roundRect">
            <a:avLst>
              <a:gd name="adj" fmla="val 50000"/>
            </a:avLst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914400" y="5742432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Memory, RAG &amp; Adaptive Difficulty Logic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6492240" y="5742432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8577072" y="5742432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10661904" y="5742432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12746736" y="5742432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14831567" y="5742432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ounded Rectangle 239"/>
          <p:cNvSpPr/>
          <p:nvPr/>
        </p:nvSpPr>
        <p:spPr>
          <a:xfrm>
            <a:off x="12746736" y="5861304"/>
            <a:ext cx="2293315" cy="338328"/>
          </a:xfrm>
          <a:prstGeom prst="roundRect">
            <a:avLst>
              <a:gd name="adj" fmla="val 50000"/>
            </a:avLst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914400" y="6318504"/>
            <a:ext cx="5577840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Evaluator &amp; Report Agent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492240" y="6318504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8577072" y="6318504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10661904" y="6318504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12746736" y="6318504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14831567" y="6318504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ounded Rectangle 246"/>
          <p:cNvSpPr/>
          <p:nvPr/>
        </p:nvSpPr>
        <p:spPr>
          <a:xfrm>
            <a:off x="13997635" y="6437376"/>
            <a:ext cx="1667865" cy="338328"/>
          </a:xfrm>
          <a:prstGeom prst="roundRect">
            <a:avLst>
              <a:gd name="adj" fmla="val 50000"/>
            </a:avLst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914400" y="6894576"/>
            <a:ext cx="55778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Integration, Testing &amp; Optimisation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92240" y="6894576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8577072" y="6894576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10661904" y="6894576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12746736" y="6894576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14831567" y="6894576"/>
            <a:ext cx="20848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ounded Rectangle 253"/>
          <p:cNvSpPr/>
          <p:nvPr/>
        </p:nvSpPr>
        <p:spPr>
          <a:xfrm>
            <a:off x="14623084" y="7013448"/>
            <a:ext cx="1876348" cy="338328"/>
          </a:xfrm>
          <a:prstGeom prst="roundRect">
            <a:avLst>
              <a:gd name="adj" fmla="val 50000"/>
            </a:avLst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914400" y="7470648"/>
            <a:ext cx="5577840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l"/>
            <a:r>
              <a:rPr sz="1350">
                <a:solidFill>
                  <a:srgbClr val="1A1A1A"/>
                </a:solidFill>
                <a:latin typeface="Calibri"/>
              </a:rPr>
              <a:t>Deployment, Documentation &amp; Final Review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6492240" y="7470648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8577072" y="7470648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10661904" y="7470648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12746736" y="7470648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14831567" y="7470648"/>
            <a:ext cx="2084832" cy="576072"/>
          </a:xfrm>
          <a:prstGeom prst="rect">
            <a:avLst/>
          </a:prstGeom>
          <a:solidFill>
            <a:srgbClr val="FBEEE6"/>
          </a:solidFill>
          <a:ln w="6350">
            <a:solidFill>
              <a:srgbClr val="D8C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ounded Rectangle 260"/>
          <p:cNvSpPr/>
          <p:nvPr/>
        </p:nvSpPr>
        <p:spPr>
          <a:xfrm>
            <a:off x="15665500" y="7589520"/>
            <a:ext cx="1250899" cy="338328"/>
          </a:xfrm>
          <a:prstGeom prst="roundRect">
            <a:avLst>
              <a:gd name="adj" fmla="val 50000"/>
            </a:avLst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ounded Rectangle 261"/>
          <p:cNvSpPr/>
          <p:nvPr/>
        </p:nvSpPr>
        <p:spPr>
          <a:xfrm>
            <a:off x="914400" y="838504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E6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TextBox 262"/>
          <p:cNvSpPr txBox="1"/>
          <p:nvPr/>
        </p:nvSpPr>
        <p:spPr>
          <a:xfrm>
            <a:off x="1572768" y="832104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55B63"/>
                </a:solidFill>
                <a:latin typeface="Calibri"/>
              </a:rPr>
              <a:t>Planning &amp; Design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4206240" y="838504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B0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TextBox 264"/>
          <p:cNvSpPr txBox="1"/>
          <p:nvPr/>
        </p:nvSpPr>
        <p:spPr>
          <a:xfrm>
            <a:off x="4864607" y="832104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55B63"/>
                </a:solidFill>
                <a:latin typeface="Calibri"/>
              </a:rPr>
              <a:t>Core Development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7498079" y="838504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55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TextBox 266"/>
          <p:cNvSpPr txBox="1"/>
          <p:nvPr/>
        </p:nvSpPr>
        <p:spPr>
          <a:xfrm>
            <a:off x="8156448" y="832104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55B63"/>
                </a:solidFill>
                <a:latin typeface="Calibri"/>
              </a:rPr>
              <a:t>Integration &amp; Delivery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0607040" y="8321040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0" i="0">
                <a:solidFill>
                  <a:srgbClr val="555B63"/>
                </a:solidFill>
                <a:latin typeface="Calibri"/>
              </a:rPr>
              <a:t>Milestones:  R0 Initial Review – Aug  •  R1 – Oct  •  R2 – Nov  •  Final – Dec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6234547" y="3345873"/>
            <a:ext cx="45927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pic>
        <p:nvPicPr>
          <p:cNvPr descr="C:\Users\Sharad\Desktop\download veltech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9912" y="6800399"/>
            <a:ext cx="4295550" cy="161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C:\Users\Sharad\Desktop\Logo-Final-A veltech.png"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73013" y="7033095"/>
            <a:ext cx="1380376" cy="115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25539" y="6800399"/>
            <a:ext cx="1729738" cy="13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>
            <p:ph idx="11" type="ftr"/>
          </p:nvPr>
        </p:nvSpPr>
        <p:spPr>
          <a:xfrm>
            <a:off x="3153219" y="9012800"/>
            <a:ext cx="130971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DEPARTMENT OF ARTIFICIAL INTELLIGENCE &amp; MACHINE LEARNING (AIML)    / </a:t>
            </a:r>
            <a:r>
              <a:rPr lang="en-IN">
                <a:solidFill>
                  <a:schemeClr val="lt1"/>
                </a:solidFill>
              </a:rPr>
              <a:t>PREPSENSE: AN AI-POWERED ADAPTIVE INTERVIEW INTELLIGENCE PLATFORM.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6" name="Google Shape;196;p22"/>
          <p:cNvSpPr txBox="1"/>
          <p:nvPr>
            <p:ph idx="10" type="dt"/>
          </p:nvPr>
        </p:nvSpPr>
        <p:spPr>
          <a:xfrm>
            <a:off x="1645921" y="9689678"/>
            <a:ext cx="3708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August 12,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